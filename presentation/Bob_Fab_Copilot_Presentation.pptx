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IBM BOB AI INNOVATION HACKATHON 2026 — TRACK S1</a:t>
            </a:r>
          </a:p>
          <a:p>
            <a:pPr>
              <a:spcBef>
                <a:spcPts val="1000"/>
              </a:spcBef>
              <a:defRPr sz="4600" b="1">
                <a:solidFill>
                  <a:srgbClr val="FFFFFF"/>
                </a:solidFill>
              </a:defRPr>
            </a:pPr>
            <a:r>
              <a:t>Bob Fab Copilot</a:t>
            </a:r>
          </a:p>
          <a:p>
            <a:pPr>
              <a:spcBef>
                <a:spcPts val="500"/>
              </a:spcBef>
              <a:defRPr sz="2200">
                <a:solidFill>
                  <a:srgbClr val="38BDF8"/>
                </a:solidFill>
              </a:defRPr>
            </a:pPr>
            <a:r>
              <a:t>Wafer Yield Root Cause &amp; Defect Pattern Analyser</a:t>
            </a:r>
          </a:p>
          <a:p>
            <a:pPr>
              <a:spcBef>
                <a:spcPts val="2000"/>
              </a:spcBef>
              <a:defRPr sz="1400">
                <a:solidFill>
                  <a:srgbClr val="94A3B8"/>
                </a:solidFill>
              </a:defRPr>
            </a:pPr>
            <a:r>
              <a:t>Transforming weeks of semiconductor yield troubleshooting into seconds.</a:t>
            </a:r>
            <a:br/>
            <a:r>
              <a:t>Grounded in real SEMI standards, Statistical Process Control, calibrated probability, and GenAI.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937760"/>
            <a:ext cx="32918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5029200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100% Validation Accuracy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Top-1 accuracy verified on injected fab faults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4937760"/>
            <a:ext cx="32918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5029200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Weeks → Seconds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Instant cross-correlation across 5 fab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4937760"/>
            <a:ext cx="32918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2440" y="5029200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Zero Black-Box Guessing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SPC Cpk, WE Rules &amp; DOE-confirmation caveats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INDUSTRY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$90B Yield Crisis in Semiconductor Manufacturing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 3nm/5nm fab operations, yield is the single biggest driver of profitability and survival.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Catastrophic Cost of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1% Yield Drop = Millions lost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At 3nm/5nm scales, even a minor excursion costs tens of millions per month in lost wafer output.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$90B Annual Overhead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Industry-wide equipment downtime, yield recovery delays, and scrap wafers cost billions globally.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Tight Margins &amp; High Scrutiny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Modern fabs cannot afford days of trial-and-error root-cause diagnosis.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Multi-Step Fab Complexity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Hundreds of Sequential Steps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Wafers cycle through Lithography, Etch, CVD, CMP, and Implant across hundreds of individual tools.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Massive Confounding Variables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Downstream inspection defects are often caused by upstream tool drift (e.g. etch pressure drift causing ring particles).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Sensor Overload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Gigabytes of FDC telemetry per hour make manual thresholding and rule-checking overwhelming.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Why Generic AI Fails in Fabs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Black-Box Guesswork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Traditional ML outputs ungrounded correlation scores that process engineers rightfully distrust.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Overclaiming Causation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Claiming '100% root cause certainty' ruins credibility; real fabs require DOE (Design of Experiments) confirmation.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No Early Warning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Existing tools only analyze completed batches after damage is already done, missing in-progress drift.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Bob Fab Copilot: The Engineer-Trustable Yield AI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An integrated system combining rigorous semiconductor SPC, spatial physics, calibrated probability, and conversational GenAI.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Rigorous SPC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Monitors FDC sensor telemetry using real semiconductor metrics: Cpk &amp; Ppk capability with Cpk &lt; 1.33 flags, plus Western Electric Rules 1-4 (point &gt; 3σ, 2-of-3 &gt; 2σ, 4-of-5 &gt; 1σ, 8-in-a-row drift).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2. Spatial Signature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Explainable geometric &amp; PCA classification of normalized wafer coordinates into 5 physical failure patterns: edge-ring, center-cluster, scratch, donut, and random. Shape indicates equipment fault families.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3. Step-Constrained Root Cause Ranker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Narrows search space using defect detected_at_step to prevent false correlations. Scores candidates via composite formula with sample-size calibrated confidence S(n) = n/(n+4), never claiming 100% certainty.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4160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4. Predictive Batch Risk &amp; GenAI 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480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Compares in-progress lot telemetry against historical low-yield fingerprints to flag at-risk batches early. 'Ask Bob' Copilot provides plain-English root cause explanations and corrective actions with DOE caveats.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Seamless 4-Tier Collaborative Architecture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Modular design connecting synthetic SECS/GEM telemetry, analytics algorithms, FastAPI services, and 3D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Tier 1: Data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19456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Synthetic FDC &amp; MES generation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SECS/GEM standard modeling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5 Injected Ground-Truth Scenarios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SQLite database seeding &amp; schemas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Hidden labels for validation 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1783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Tier 2: Analytics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03120"/>
            <a:ext cx="219456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SPC Engine (</a:t>
            </a:r>
            <a:r>
              <a:rPr dirty="0" err="1"/>
              <a:t>Cpk</a:t>
            </a:r>
            <a:r>
              <a:rPr dirty="0"/>
              <a:t>, </a:t>
            </a:r>
            <a:r>
              <a:rPr dirty="0" err="1"/>
              <a:t>Ppk</a:t>
            </a:r>
            <a:r>
              <a:rPr dirty="0"/>
              <a:t>, WE Rules)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Spatial Signature Classifier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Step-narrowed Root Cause Ranker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Batch Risk Predictor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Top-1/Top-3 Validation Harness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Tier 3: Copilot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03120"/>
            <a:ext cx="219456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Conversational 'Ask Bob' agent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Plain-English findings explanation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Corrective action recommendations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Mandatory DOE confirmation caveats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Contextual tool-calling over findings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444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40" y="1783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Tier 4: Dashboard &amp;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428568"/>
            <a:ext cx="184797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</a:t>
            </a:r>
            <a:r>
              <a:rPr dirty="0" err="1"/>
              <a:t>FastAPI</a:t>
            </a:r>
            <a:r>
              <a:rPr dirty="0"/>
              <a:t> REST endpoints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Interactive 3D Wafer Map (Three.js)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Yield trend &amp; lot breakdown views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Live Validation Panel in UI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Real-time at-risk batch monitor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ANALYTICS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Physics-Grounded Detection: SPC &amp; Spatial Signatures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No guessing, no black boxes. Combining process capability statistics with wafer defect geometry.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Statistical Process Control (SPC)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Cpk &amp; Ppk Process Capability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Cpu = (USL - μ)/(3σ), Cpl = (μ - LSL)/(3σ), Cpk = min(Cpu, Cpl). Evaluates real capability across tools and parameter windows.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Capability Threshold: Cpk &lt; 1.33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Real semiconductor benchmark for out-of-capability processes, avoiding arbitrary heuristic thresholds.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Western Electric Rules (Rules 1 - 4)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Rule 1: 1 point &gt; 3σ</a:t>
            </a:r>
            <a:br/>
            <a:r>
              <a:t>Rule 2: 2 of 3 consecutive &gt; 2σ on same side</a:t>
            </a:r>
            <a:br/>
            <a:r>
              <a:t>Rule 3: 4 of 5 consecutive &gt; 1σ on same side</a:t>
            </a:r>
            <a:br/>
            <a:r>
              <a:t>Rule 4: 8 consecutive points on one side of center line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Robust Zero-Variance Handling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Gracefully handles σ = 0, single-sided specifications, and sparse observation windows.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Spatial Signature Defect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edge-ring (r ≥ 0.72)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High radial defect density near perimeter. Points to etch chamber seal degradation, clamp ring wear, or edge-exclusion drift.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center-cluster (r ≤ 0.35)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High density at wafer center. Points to CVD showerhead thermal gradients or center gas flow imbalance.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scratch (PCA Linearity ≥ 0.88)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Linear defect arrangement identified via principal component analysis. Points to wafer handling arm damage or CMP pad debris.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donut (0.30 ≤ r ≤ 0.80, hollow core)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Annular defect ring with clear center. Points to gas injection non-uniformity.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random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Dispersed background particles without spatial correlation.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ANALYTICS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Confounding-Free Ranking &amp; Predictive Batch Risk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Prioritizing true root causes while preventing false correlation and stopping scrap before completion.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Confounding-Aware Root Cause 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Step Narrowing (detected_at_step)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The ranker strictly restricts candidate parameters to the process step where defects were detected, eliminating spurious correlations across unrelated steps.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Composite Scoring Concept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composite_score = deviation_score × frequency_across_lots × confidence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Multi-Factor Deviation Score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Combines z-score severity (min 1.0, |z|/3.0), spec limit excursions, Cpk degradation, and Western Electric violations.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Honest Confidence Calibration S(n)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Confidence scales asymptotically with sample size: S(n) = n / (n + 4.0). Strictly capped &lt; 0.95 — correlation is never presented as certain causation!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Dynamic Evidence String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Generates explainable, data-backed evidence: e.g. 'Chamber pressure was 6.7σ above target on 14 of 24 affected lots; Cpk 0.18; WE Rule 4 violated.'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Predictive Upcoming Batch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Targeting In-Progress Lots Only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Evaluates lots with status == 'in_progress' to intercept yield excursions before lots finish cycling through the fab.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Historical Failure Fingerprinting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Extracts parameter vectors from completed lots that ended with low yield (&lt; 90%).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Normalized Vector Similarity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Computes normalized Euclidean RMSE similarity against known failure fingerprints: sim = exp(-RMSE / 2.0).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Drift Activation &amp; Signature Matching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Elevates risk score when active parameter drift is detected and predicts the upcoming defect signature (e.g. edge-ring).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Proven Output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Successfully flagged LOT-2245 with 0.96 risk score and matched edge-ring signature in benchmark testing!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SCIENTIFIC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Proof Gate: 100% Accuracy on Ground-Truth Faults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The key differentiator: we don't just show a plausible UI; we prove our algorithm isolates the true cause.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100.0% Top-1 Accuracy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Hard gate required ≥ 70% — Exceeded!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100.0% Top-3 Accuracy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True root cause in top 3 on all test lots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24 Injected Lots Verified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Hidden ground-truth labels from Person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0698480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Why This Sets Us Apart From Every Other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✓ Rigorous Validation Gate (Checkpoint 2): </a:t>
            </a:r>
            <a:r>
              <a:rPr sz="1100">
                <a:solidFill>
                  <a:srgbClr val="94A3B8"/>
                </a:solidFill>
              </a:rPr>
              <a:t>Person A injected 5 distinct fault scenarios (Etch pressure drift, CMP downforce scratch, CVD temp gradient, Litho focus offset) into hidden ground-truth labels. The ranker was evaluated blindly.</a:t>
            </a:r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✓ Live Validation Panel in the UI: </a:t>
            </a:r>
            <a:r>
              <a:rPr sz="1100">
                <a:solidFill>
                  <a:srgbClr val="94A3B8"/>
                </a:solidFill>
              </a:rPr>
              <a:t>Unlike hackathon demos that hide behind hand-coded outputs, Bob Fab Copilot has a live /validate endpoint and dashboard tab displaying real-time accuracy bars to judges.</a:t>
            </a:r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✓ DOE-Confirmation Framing: </a:t>
            </a:r>
            <a:r>
              <a:rPr sz="1100">
                <a:solidFill>
                  <a:srgbClr val="94A3B8"/>
                </a:solidFill>
              </a:rPr>
              <a:t>Every single finding states: 'Leading candidate — recommend targeted DOE (Design of Experiments) confirmation.' This mirrors real fab methodology, winning trust from veteran semiconductor judges.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Interactive 3D Dashboard &amp; 'Ask Bob' Copilot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Designed for yield engineers: interactive 3D wafer visualization, instant lot triage, and conversational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Interactive 3D Wafer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Three.js / React-Three-Fiber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High-fidelity 3D wafer disk with interactive rotation, zoom, and coordinate inspection.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Color-Coded Severity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Defects mapped by severity: Critical (Red), Major (Amber), Minor (Blue).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Instant Pattern Recognition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Engineers visually verify edge-ring, scratch, and center cluster signatures at a glance.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Ranked Root-Cause Feed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Ranked Candidate Cards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Displays step, tool ID, parameter, deviation score, confidence, and sample size.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Evidence Breakdown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Displays computed sigma excursion, Cpk, and Western Electric rule numbers.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Predictive Risk Drawer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Dedicated tab highlighting upcoming in-progress batches before they complete.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Conversational 'Ask Bob'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Natural Language Q&amp;A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Engineers can ask: 'Why did LOT-2231 fail and what should we do?'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Actionable Recommendations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Maps root cause families to corrective actions: PM checks, chamber requalification, or wafer quarantine.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Disciplined Phrasing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Bob strictly cites computed evidence, sample size, and DOE-confirmation caveats — never hallucinates certainty.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Quantifiable ROI for Modern Semiconductor Fabs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Delivering massive cost reduction, faster yield ramps, and operational excellence.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80%+ Reduction in TTR (Time-to-Root-Cause)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Shifting from 2-3 weeks of manual engineering cross-correlation and spreadsheet triage to instantaneous root-cause ranking in under 1 second.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$10M+ Monthly Yield Savings per Fab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Recovering even 0.5% - 1.0% in wafer yield across 30,000 wafer starts per month directly translates to $10M - $30M in monthly revenue preservation.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Proactive Scrap Prevention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Predictive batch risk catches drifting equipment during production, allowing engineers to quarantine or adjust tools before dozens of subsequent lots are ruined.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4160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Engineer Productivity &amp; Knowledge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480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Empowers junior process engineers with senior-level fab diagnostics and standard operating corrective actions, standardizing fab response times.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1824</Words>
  <Application>Microsoft Office PowerPoint</Application>
  <PresentationFormat>Widescreen</PresentationFormat>
  <Paragraphs>179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Kavya Chauhan</cp:lastModifiedBy>
  <cp:revision>2</cp:revision>
  <dcterms:created xsi:type="dcterms:W3CDTF">2013-01-27T09:14:16Z</dcterms:created>
  <dcterms:modified xsi:type="dcterms:W3CDTF">2026-09-14T18:59:32Z</dcterms:modified>
  <cp:category/>
</cp:coreProperties>
</file>